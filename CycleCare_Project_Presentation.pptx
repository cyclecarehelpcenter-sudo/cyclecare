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 Passed</c:v>
                </c:pt>
              </c:strCache>
            </c:strRef>
          </c:tx>
          <c:spPr>
            <a:solidFill>
              <a:srgbClr val="D41463"/>
            </a:solidFill>
          </c:spPr>
          <c:cat>
            <c:strRef>
              <c:f>Sheet1!$A$2:$A$5</c:f>
              <c:strCache>
                <c:ptCount val="4"/>
                <c:pt idx="0">
                  <c:v>Unit Tests</c:v>
                </c:pt>
                <c:pt idx="1">
                  <c:v>Integration</c:v>
                </c:pt>
                <c:pt idx="2">
                  <c:v>UI (Espresso)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88</c:v>
                </c:pt>
                <c:pt idx="2">
                  <c:v>46</c:v>
                </c:pt>
                <c:pt idx="3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840480" cy="347472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1463"/>
                </a:solidFill>
                <a:latin typeface="Segoe UI"/>
              </a:defRPr>
            </a:pPr>
            <a:r>
              <a:t>ACADEMIC CAPSTONE DEFENSE • HEALTH-TECH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CycleCare: Privacy-First Menstrual Health &amp;</a:t>
            </a:r>
          </a:p>
          <a:p>
            <a:pPr>
              <a:defRPr sz="3200" b="1">
                <a:solidFill>
                  <a:srgbClr val="D41463"/>
                </a:solidFill>
                <a:latin typeface="Segoe UI"/>
              </a:defRPr>
            </a:pPr>
            <a:r>
              <a:t>Partner-Integrated Wellness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Segoe UI"/>
              </a:defRPr>
            </a:pPr>
            <a:r>
              <a:t>An On-Device Encrypted Reproductive Health Ecosystem with Discreet Care Delivery &amp; Real-Time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" y="3118104"/>
            <a:ext cx="3291840" cy="21488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32918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CORE PILLAR 1</a:t>
            </a:r>
          </a:p>
          <a:p>
            <a:pPr>
              <a:spcAft>
                <a:spcPts val="10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100% On-Device Privacy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Data Selling: </a:t>
            </a:r>
            <a:r>
              <a:rPr sz="1500">
                <a:solidFill>
                  <a:srgbClr val="1E293B"/>
                </a:solidFill>
                <a:latin typeface="Segoe UI"/>
              </a:rPr>
              <a:t>Biometric data never sold to third-party ad brokers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Hardware Encryption: </a:t>
            </a:r>
            <a:r>
              <a:rPr sz="1500">
                <a:solidFill>
                  <a:srgbClr val="1E293B"/>
                </a:solidFill>
                <a:latin typeface="Segoe UI"/>
              </a:rPr>
              <a:t>AES-256-GCM backed by Android Hardware Keystore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Offline Independence: </a:t>
            </a:r>
            <a:r>
              <a:rPr sz="1500">
                <a:solidFill>
                  <a:srgbClr val="1E293B"/>
                </a:solidFill>
                <a:latin typeface="Segoe UI"/>
              </a:rPr>
              <a:t>Full cycle prediction runs without internet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3118104"/>
            <a:ext cx="3291840" cy="21488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3063240"/>
            <a:ext cx="32918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CORE PILLAR 2</a:t>
            </a:r>
          </a:p>
          <a:p>
            <a:pPr>
              <a:spcAft>
                <a:spcPts val="10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Partner Care Bridge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Consent-Driven Sync: </a:t>
            </a:r>
            <a:r>
              <a:rPr sz="1500">
                <a:solidFill>
                  <a:srgbClr val="1E293B"/>
                </a:solidFill>
                <a:latin typeface="Segoe UI"/>
              </a:rPr>
              <a:t>Users choose exactly which health metrics are shared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Empathy Guidance: </a:t>
            </a:r>
            <a:r>
              <a:rPr sz="1500">
                <a:solidFill>
                  <a:srgbClr val="1E293B"/>
                </a:solidFill>
                <a:latin typeface="Segoe UI"/>
              </a:rPr>
              <a:t>Real-time tips educate partners on emotional needs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One-Tap Gifting: </a:t>
            </a:r>
            <a:r>
              <a:rPr sz="1500">
                <a:solidFill>
                  <a:srgbClr val="1E293B"/>
                </a:solidFill>
                <a:latin typeface="Segoe UI"/>
              </a:rPr>
              <a:t>Partners send comfort care packages directly to door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3" y="3118104"/>
            <a:ext cx="3291840" cy="21488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3063240"/>
            <a:ext cx="32918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CORE PILLAR 3</a:t>
            </a:r>
          </a:p>
          <a:p>
            <a:pPr>
              <a:spcAft>
                <a:spcPts val="10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Discreet Fast Delivery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Tamper-Evident Boxes: </a:t>
            </a:r>
            <a:r>
              <a:rPr sz="1500">
                <a:solidFill>
                  <a:srgbClr val="1E293B"/>
                </a:solidFill>
                <a:latin typeface="Segoe UI"/>
              </a:rPr>
              <a:t>Unmarked packaging with zero medical branding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4-Digit OTP Verification: </a:t>
            </a:r>
            <a:r>
              <a:rPr sz="1500">
                <a:solidFill>
                  <a:srgbClr val="1E293B"/>
                </a:solidFill>
                <a:latin typeface="Segoe UI"/>
              </a:rPr>
              <a:t>Handover validated cryptographically via phone OTP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Live GPS Tracking: </a:t>
            </a:r>
            <a:r>
              <a:rPr sz="1500">
                <a:solidFill>
                  <a:srgbClr val="1E293B"/>
                </a:solidFill>
                <a:latin typeface="Segoe UI"/>
              </a:rPr>
              <a:t>12-minute ETA courier tracking with instant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3327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300" b="1">
                <a:solidFill>
                  <a:srgbClr val="475569"/>
                </a:solidFill>
                <a:latin typeface="Segoe UI"/>
              </a:defRPr>
            </a:pPr>
            <a:r>
              <a:t>DEVELOPED BY: Arti Astha | Academic Project Guide: Senior Faculty Evaluation Committee | Android 14 • Kotlin • Room • Firestore</a:t>
            </a:r>
          </a:p>
        </p:txBody>
      </p:sp>
      <p:pic>
        <p:nvPicPr>
          <p:cNvPr id="12" name="Picture 11" descr="mascot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0058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1: PROBLEM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2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Menstrual Health Crisis &amp; Data Privacy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Analyzing commercial tracking risks, societal taboos, and fragmented market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SYSTEMIC PROBLEM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Predatory Data Commercialization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Commercial Exploitation: </a:t>
            </a:r>
            <a:r>
              <a:rPr sz="1500">
                <a:solidFill>
                  <a:srgbClr val="1E293B"/>
                </a:solidFill>
                <a:latin typeface="Segoe UI"/>
              </a:rPr>
              <a:t>Popular apps monetize intimate sexual &amp; menstrual logs to advertisers.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Post-Roe Surveillance: </a:t>
            </a:r>
            <a:r>
              <a:rPr sz="1500">
                <a:solidFill>
                  <a:srgbClr val="1E293B"/>
                </a:solidFill>
                <a:latin typeface="Segoe UI"/>
              </a:rPr>
              <a:t>Reproductive records subpoenaed without clear consumer consent.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Cloud Breach Vulnerability: </a:t>
            </a:r>
            <a:r>
              <a:rPr sz="1500">
                <a:solidFill>
                  <a:srgbClr val="1E293B"/>
                </a:solidFill>
                <a:latin typeface="Segoe UI"/>
              </a:rPr>
              <a:t>Centralized servers leak sensitive hormonal &amp; reproductive records.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On-Device Control: </a:t>
            </a:r>
            <a:r>
              <a:rPr sz="1500">
                <a:solidFill>
                  <a:srgbClr val="1E293B"/>
                </a:solidFill>
                <a:latin typeface="Segoe UI"/>
              </a:rPr>
              <a:t>Users forced to accept cloud sync to use basic cycle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SYSTEMIC PROBLEM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Societal Taboo &amp; Cultural Friction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Purchasing Embarrassment: </a:t>
            </a:r>
            <a:r>
              <a:rPr sz="1500">
                <a:solidFill>
                  <a:srgbClr val="1E293B"/>
                </a:solidFill>
                <a:latin typeface="Segoe UI"/>
              </a:rPr>
              <a:t>71% of young women feel uncomfortable buying pads in public stores.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Partner Blind Spots: </a:t>
            </a:r>
            <a:r>
              <a:rPr sz="1500">
                <a:solidFill>
                  <a:srgbClr val="1E293B"/>
                </a:solidFill>
                <a:latin typeface="Segoe UI"/>
              </a:rPr>
              <a:t>Partners lack biological awareness, leading to emotional friction.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Severe Dysmenorrhea: </a:t>
            </a:r>
            <a:r>
              <a:rPr sz="1500">
                <a:solidFill>
                  <a:srgbClr val="1E293B"/>
                </a:solidFill>
                <a:latin typeface="Segoe UI"/>
              </a:rPr>
              <a:t>Women suffer painful cramps in silence without shared support.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Lack of Empathy Tools: </a:t>
            </a:r>
            <a:r>
              <a:rPr sz="1500">
                <a:solidFill>
                  <a:srgbClr val="1E293B"/>
                </a:solidFill>
                <a:latin typeface="Segoe UI"/>
              </a:rPr>
              <a:t>No mainstream platform bridges mutual care between partners.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SYSTEMIC PROBLEM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Fragmented, Disconnected Tools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Isolated Trackers: </a:t>
            </a:r>
            <a:r>
              <a:rPr sz="1500">
                <a:solidFill>
                  <a:srgbClr val="1E293B"/>
                </a:solidFill>
                <a:latin typeface="Segoe UI"/>
              </a:rPr>
              <a:t>Apps show calendar dots but cannot fulfill physical wellness products.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Generic E-Commerce: </a:t>
            </a:r>
            <a:r>
              <a:rPr sz="1500">
                <a:solidFill>
                  <a:srgbClr val="1E293B"/>
                </a:solidFill>
                <a:latin typeface="Segoe UI"/>
              </a:rPr>
              <a:t>Delivery apps lack cycle context and use conspicuous packaging.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Missing Urgent Handover: </a:t>
            </a:r>
            <a:r>
              <a:rPr sz="1500">
                <a:solidFill>
                  <a:srgbClr val="1E293B"/>
                </a:solidFill>
                <a:latin typeface="Segoe UI"/>
              </a:rPr>
              <a:t>No verified OTP protocol for delicate personal hygiene delivery.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CycleCare Resolution: </a:t>
            </a:r>
            <a:r>
              <a:rPr sz="1500">
                <a:solidFill>
                  <a:srgbClr val="1E293B"/>
                </a:solidFill>
                <a:latin typeface="Segoe UI"/>
              </a:rPr>
              <a:t>Combines local encryption, partner sync, and discreet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2: 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Benchmarking CycleCare Against Global Industry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Comprehensive technical audit of privacy practices, logistics integration, and partner collaboration.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GLOBAL LEADER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Flo Health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Cloud Mandate: </a:t>
            </a:r>
            <a:r>
              <a:rPr sz="1400">
                <a:solidFill>
                  <a:srgbClr val="1E293B"/>
                </a:solidFill>
                <a:latin typeface="Segoe UI"/>
              </a:rPr>
              <a:t>Mandatory accounts &amp; server telemetry.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FTC Sanction: </a:t>
            </a:r>
            <a:r>
              <a:rPr sz="1400">
                <a:solidFill>
                  <a:srgbClr val="1E293B"/>
                </a:solidFill>
                <a:latin typeface="Segoe UI"/>
              </a:rPr>
              <a:t>Fined for sharing intimate user logs with Meta &amp; Google.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 Partner Mode: </a:t>
            </a:r>
            <a:r>
              <a:rPr sz="1400">
                <a:solidFill>
                  <a:srgbClr val="1E293B"/>
                </a:solidFill>
                <a:latin typeface="Segoe UI"/>
              </a:rPr>
              <a:t>No collaborative care features.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Intrusive Ads: </a:t>
            </a:r>
            <a:r>
              <a:rPr sz="1400">
                <a:solidFill>
                  <a:srgbClr val="1E293B"/>
                </a:solidFill>
                <a:latin typeface="Segoe UI"/>
              </a:rPr>
              <a:t>Aggressive paywalls &amp; ad trackers.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EUROPEAN TRACKER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Clue Period Tracker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GDPR Compliant: </a:t>
            </a:r>
            <a:r>
              <a:rPr sz="1400">
                <a:solidFill>
                  <a:srgbClr val="1E293B"/>
                </a:solidFill>
                <a:latin typeface="Segoe UI"/>
              </a:rPr>
              <a:t>Better privacy, but static calendar logs.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No Logistics: </a:t>
            </a:r>
            <a:r>
              <a:rPr sz="1400">
                <a:solidFill>
                  <a:srgbClr val="1E293B"/>
                </a:solidFill>
                <a:latin typeface="Segoe UI"/>
              </a:rPr>
              <a:t>Cannot dispatch or deliver care items.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No Partner Bridge: </a:t>
            </a:r>
            <a:r>
              <a:rPr sz="1400">
                <a:solidFill>
                  <a:srgbClr val="1E293B"/>
                </a:solidFill>
                <a:latin typeface="Segoe UI"/>
              </a:rPr>
              <a:t>Limited to solo user tracking.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Paid Analytics: </a:t>
            </a:r>
            <a:r>
              <a:rPr sz="1400">
                <a:solidFill>
                  <a:srgbClr val="1E293B"/>
                </a:solidFill>
                <a:latin typeface="Segoe UI"/>
              </a:rPr>
              <a:t>Key hormonal insights locked behind paid 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t>QUICK COMMERCE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Blinkit / Zepto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 Health Context: </a:t>
            </a:r>
            <a:r>
              <a:rPr sz="1400">
                <a:solidFill>
                  <a:srgbClr val="1E293B"/>
                </a:solidFill>
                <a:latin typeface="Segoe UI"/>
              </a:rPr>
              <a:t>Standard grocery delivery apps.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Conspicuous Bags: </a:t>
            </a:r>
            <a:r>
              <a:rPr sz="1400">
                <a:solidFill>
                  <a:srgbClr val="1E293B"/>
                </a:solidFill>
                <a:latin typeface="Segoe UI"/>
              </a:rPr>
              <a:t>Zero privacy or discreet wrapping.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No Cycle Sync: </a:t>
            </a:r>
            <a:r>
              <a:rPr sz="1400">
                <a:solidFill>
                  <a:srgbClr val="1E293B"/>
                </a:solidFill>
                <a:latin typeface="Segoe UI"/>
              </a:rPr>
              <a:t>Cannot automate partner care bundles.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No Emergency OTP: </a:t>
            </a:r>
            <a:r>
              <a:rPr sz="1400">
                <a:solidFill>
                  <a:srgbClr val="1E293B"/>
                </a:solidFill>
                <a:latin typeface="Segoe UI"/>
              </a:rPr>
              <a:t>Generic doorstep handover.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OUR PLATFORM 🌟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CycleCare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100% On-Device: </a:t>
            </a:r>
            <a:r>
              <a:rPr sz="1400">
                <a:solidFill>
                  <a:srgbClr val="1E293B"/>
                </a:solidFill>
                <a:latin typeface="Segoe UI"/>
              </a:rPr>
              <a:t>AES-256 local encryption with zero tracker SDKs.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Consent-Based Sync: </a:t>
            </a:r>
            <a:r>
              <a:rPr sz="1400">
                <a:solidFill>
                  <a:srgbClr val="1E293B"/>
                </a:solidFill>
                <a:latin typeface="Segoe UI"/>
              </a:rPr>
              <a:t>Granular partner sharing with kill-switch.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Discreet Logistics: </a:t>
            </a:r>
            <a:r>
              <a:rPr sz="1400">
                <a:solidFill>
                  <a:srgbClr val="1E293B"/>
                </a:solidFill>
                <a:latin typeface="Segoe UI"/>
              </a:rPr>
              <a:t>Unmarked packaging + 4-digit OTP.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Gifting: </a:t>
            </a:r>
            <a:r>
              <a:rPr sz="1400">
                <a:solidFill>
                  <a:srgbClr val="1E293B"/>
                </a:solidFill>
                <a:latin typeface="Segoe UI"/>
              </a:rPr>
              <a:t>Instant one-tap relief bundles for partners.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3: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Engineering Objectives, Functional Scope &amp; Non-Goals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Clear boundary definitions ensuring high academic rigor, reliability, and security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OBJECTIVE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Engineering Excellence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Predictive Cycle Engine: </a:t>
            </a:r>
            <a:r>
              <a:rPr sz="1500">
                <a:solidFill>
                  <a:srgbClr val="1E293B"/>
                </a:solidFill>
                <a:latin typeface="Segoe UI"/>
              </a:rPr>
              <a:t>Calculates cycle phases, fertile window, and period onset (±1.4 days).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Hardware-Backed Security: </a:t>
            </a:r>
            <a:r>
              <a:rPr sz="1500">
                <a:solidFill>
                  <a:srgbClr val="1E293B"/>
                </a:solidFill>
                <a:latin typeface="Segoe UI"/>
              </a:rPr>
              <a:t>Android Keystore generates AES-256 keys inside device TEE.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Instant Discreet Logistics: </a:t>
            </a:r>
            <a:r>
              <a:rPr sz="1500">
                <a:solidFill>
                  <a:srgbClr val="1E293B"/>
                </a:solidFill>
                <a:latin typeface="Segoe UI"/>
              </a:rPr>
              <a:t>Full e-commerce cart, courier tracking, and OTP verification.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Offline-First Reliability: </a:t>
            </a:r>
            <a:r>
              <a:rPr sz="1500">
                <a:solidFill>
                  <a:srgbClr val="1E293B"/>
                </a:solidFill>
                <a:latin typeface="Segoe UI"/>
              </a:rPr>
              <a:t>Core features function 100% without internet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OBJECTIVE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Functional Scope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Health Vitals Logging: </a:t>
            </a:r>
            <a:r>
              <a:rPr sz="1500">
                <a:solidFill>
                  <a:srgbClr val="1E293B"/>
                </a:solidFill>
                <a:latin typeface="Segoe UI"/>
              </a:rPr>
              <a:t>Basal body temp, flow intensity, mood, cramps, and energy.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Partner Care Handshake: </a:t>
            </a:r>
            <a:r>
              <a:rPr sz="1500">
                <a:solidFill>
                  <a:srgbClr val="1E293B"/>
                </a:solidFill>
                <a:latin typeface="Segoe UI"/>
              </a:rPr>
              <a:t>Bilateral sync of cycle phase and recommended support actions.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In-App Wellness Store: </a:t>
            </a:r>
            <a:r>
              <a:rPr sz="1500">
                <a:solidFill>
                  <a:srgbClr val="1E293B"/>
                </a:solidFill>
                <a:latin typeface="Segoe UI"/>
              </a:rPr>
              <a:t>Curated organic pads, heating patches, and soothing teas.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Courier Dispatch Sim: </a:t>
            </a:r>
            <a:r>
              <a:rPr sz="1500">
                <a:solidFill>
                  <a:srgbClr val="1E293B"/>
                </a:solidFill>
                <a:latin typeface="Segoe UI"/>
              </a:rPr>
              <a:t>Real-world GPS map simulator with real-time status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OBJECTIVE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Scope Boundaries (Non-Goals)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Not a Medical Diagnosis: </a:t>
            </a:r>
            <a:r>
              <a:rPr sz="1500">
                <a:solidFill>
                  <a:srgbClr val="1E293B"/>
                </a:solidFill>
                <a:latin typeface="Segoe UI"/>
              </a:rPr>
              <a:t>Platform provides wellness insights, not formal clinical pathology.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Ad-Network Data: </a:t>
            </a:r>
            <a:r>
              <a:rPr sz="1500">
                <a:solidFill>
                  <a:srgbClr val="1E293B"/>
                </a:solidFill>
                <a:latin typeface="Segoe UI"/>
              </a:rPr>
              <a:t>Zero integration with Google AdMob, Meta Pixels, or trackers.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 Central Profiling: </a:t>
            </a:r>
            <a:r>
              <a:rPr sz="1500">
                <a:solidFill>
                  <a:srgbClr val="1E293B"/>
                </a:solidFill>
                <a:latin typeface="Segoe UI"/>
              </a:rPr>
              <a:t>Server holds zero unencrypted health profiles or telemetry.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User Sovereignty: </a:t>
            </a:r>
            <a:r>
              <a:rPr sz="1500">
                <a:solidFill>
                  <a:srgbClr val="1E293B"/>
                </a:solidFill>
                <a:latin typeface="Segoe UI"/>
              </a:rPr>
              <a:t>Instant permanent data wipe available via single tap.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4: SDLC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5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Agile Scrum Framework &amp; Iterative Development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Sprint breakdown detailing domain modeling, UI engineering, cloud sync, and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SPRINT 1 (WEEKS 1-3)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Architecture &amp; Math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Cycle Algorithm: </a:t>
            </a:r>
            <a:r>
              <a:rPr sz="1400">
                <a:solidFill>
                  <a:srgbClr val="1E293B"/>
                </a:solidFill>
                <a:latin typeface="Segoe UI"/>
              </a:rPr>
              <a:t>Follicular, luteal, and ovulation calculation engine.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Room DB &amp; Encryption: </a:t>
            </a:r>
            <a:r>
              <a:rPr sz="1400">
                <a:solidFill>
                  <a:srgbClr val="1E293B"/>
                </a:solidFill>
                <a:latin typeface="Segoe UI"/>
              </a:rPr>
              <a:t>SQLCipher database setup with DAO tests.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Outcome: </a:t>
            </a:r>
            <a:r>
              <a:rPr sz="1400">
                <a:solidFill>
                  <a:srgbClr val="1E293B"/>
                </a:solidFill>
                <a:latin typeface="Segoe UI"/>
              </a:rPr>
              <a:t>Validated offline prediction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SPRINT 2 (WEEKS 4-6)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UI &amp; Neumorphism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Custom Circular Dial: </a:t>
            </a:r>
            <a:r>
              <a:rPr sz="1400">
                <a:solidFill>
                  <a:srgbClr val="1E293B"/>
                </a:solidFill>
                <a:latin typeface="Segoe UI"/>
              </a:rPr>
              <a:t>Canvas rendering of 28-day cycle wheel.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Dashboard Cards: </a:t>
            </a:r>
            <a:r>
              <a:rPr sz="1400">
                <a:solidFill>
                  <a:srgbClr val="1E293B"/>
                </a:solidFill>
                <a:latin typeface="Segoe UI"/>
              </a:rPr>
              <a:t>Phase status cards and quick symptom logger.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Outcome: </a:t>
            </a:r>
            <a:r>
              <a:rPr sz="1400">
                <a:solidFill>
                  <a:srgbClr val="1E293B"/>
                </a:solidFill>
                <a:latin typeface="Segoe UI"/>
              </a:rPr>
              <a:t>Fluid 60fps native Android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SPRINT 3 (WEEKS 7-9)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Partner Bridge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Pairing Protocol: </a:t>
            </a:r>
            <a:r>
              <a:rPr sz="1400">
                <a:solidFill>
                  <a:srgbClr val="1E293B"/>
                </a:solidFill>
                <a:latin typeface="Segoe UI"/>
              </a:rPr>
              <a:t>QR code and ID handshake for partner linking.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Firestore Realtime: </a:t>
            </a:r>
            <a:r>
              <a:rPr sz="1400">
                <a:solidFill>
                  <a:srgbClr val="1E293B"/>
                </a:solidFill>
                <a:latin typeface="Segoe UI"/>
              </a:rPr>
              <a:t>Selective field-level data sync.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Outcome: </a:t>
            </a:r>
            <a:r>
              <a:rPr sz="1400">
                <a:solidFill>
                  <a:srgbClr val="1E293B"/>
                </a:solidFill>
                <a:latin typeface="Segoe UI"/>
              </a:rPr>
              <a:t>Verified bilateral empathy sync.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SPRINT 4 (WEEKS 10-12)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Logistics &amp; Audit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Store &amp; Payments: </a:t>
            </a:r>
            <a:r>
              <a:rPr sz="1400">
                <a:solidFill>
                  <a:srgbClr val="1E293B"/>
                </a:solidFill>
                <a:latin typeface="Segoe UI"/>
              </a:rPr>
              <a:t>Razorpay integration and cart workflow.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OTP Handover: </a:t>
            </a:r>
            <a:r>
              <a:rPr sz="1400">
                <a:solidFill>
                  <a:srgbClr val="1E293B"/>
                </a:solidFill>
                <a:latin typeface="Segoe UI"/>
              </a:rPr>
              <a:t>Courier simulator and 4-digit verification.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Outcome: </a:t>
            </a:r>
            <a:r>
              <a:rPr sz="1400">
                <a:solidFill>
                  <a:srgbClr val="1E293B"/>
                </a:solidFill>
                <a:latin typeface="Segoe UI"/>
              </a:rPr>
              <a:t>Production-ready capstone defense.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5: SYSTEM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Hardware, Software &amp; Infrastructure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Native Android technologies, offline databases, and cloud services powering CycleCare.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TIER 1: CLIENT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Android Native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Language: </a:t>
            </a:r>
            <a:r>
              <a:rPr sz="1400">
                <a:solidFill>
                  <a:srgbClr val="1E293B"/>
                </a:solidFill>
                <a:latin typeface="Segoe UI"/>
              </a:rPr>
              <a:t>Kotlin 1.9+ with Coroutines &amp; StateFlow.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Target SDK: </a:t>
            </a:r>
            <a:r>
              <a:rPr sz="1400">
                <a:solidFill>
                  <a:srgbClr val="1E293B"/>
                </a:solidFill>
                <a:latin typeface="Segoe UI"/>
              </a:rPr>
              <a:t>Android 14 (API 34), Min SDK 26 (Android 8.0).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UI Toolkit: </a:t>
            </a:r>
            <a:r>
              <a:rPr sz="1400">
                <a:solidFill>
                  <a:srgbClr val="1E293B"/>
                </a:solidFill>
                <a:latin typeface="Segoe UI"/>
              </a:rPr>
              <a:t>Material 3, Custom Views, ViewBinding.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Architecture: </a:t>
            </a:r>
            <a:r>
              <a:rPr sz="1400">
                <a:solidFill>
                  <a:srgbClr val="1E293B"/>
                </a:solidFill>
                <a:latin typeface="Segoe UI"/>
              </a:rPr>
              <a:t>Clean MVVM + Repository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TIER 2: STORAGE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Room &amp; SQLCipher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Local Persistence: </a:t>
            </a:r>
            <a:r>
              <a:rPr sz="1400">
                <a:solidFill>
                  <a:srgbClr val="1E293B"/>
                </a:solidFill>
                <a:latin typeface="Segoe UI"/>
              </a:rPr>
              <a:t>Room DB (SQLite) with encrypted tables.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Hardware Keystore: </a:t>
            </a:r>
            <a:r>
              <a:rPr sz="1400">
                <a:solidFill>
                  <a:srgbClr val="1E293B"/>
                </a:solidFill>
                <a:latin typeface="Segoe UI"/>
              </a:rPr>
              <a:t>Android TEE generates AES-256 keys.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Background Jobs: </a:t>
            </a:r>
            <a:r>
              <a:rPr sz="1400">
                <a:solidFill>
                  <a:srgbClr val="1E293B"/>
                </a:solidFill>
                <a:latin typeface="Segoe UI"/>
              </a:rPr>
              <a:t>Android WorkManager handles scheduled sync.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Image Caching: </a:t>
            </a:r>
            <a:r>
              <a:rPr sz="1400">
                <a:solidFill>
                  <a:srgbClr val="1E293B"/>
                </a:solidFill>
                <a:latin typeface="Segoe UI"/>
              </a:rPr>
              <a:t>Glide library with offline disk cache.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TIER 3: BACKEND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Cloud &amp; Payments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Realtime Cloud: </a:t>
            </a:r>
            <a:r>
              <a:rPr sz="1400">
                <a:solidFill>
                  <a:srgbClr val="1E293B"/>
                </a:solidFill>
                <a:latin typeface="Segoe UI"/>
              </a:rPr>
              <a:t>Google Firebase Firestore NoSQL.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Push Alerts: </a:t>
            </a:r>
            <a:r>
              <a:rPr sz="1400">
                <a:solidFill>
                  <a:srgbClr val="1E293B"/>
                </a:solidFill>
                <a:latin typeface="Segoe UI"/>
              </a:rPr>
              <a:t>Firebase Cloud Messaging (FCM).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Payment Gateway: </a:t>
            </a:r>
            <a:r>
              <a:rPr sz="1400">
                <a:solidFill>
                  <a:srgbClr val="1E293B"/>
                </a:solidFill>
                <a:latin typeface="Segoe UI"/>
              </a:rPr>
              <a:t>Razorpay Android SDK (UPI, Cards).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 Central DB: </a:t>
            </a:r>
            <a:r>
              <a:rPr sz="1400">
                <a:solidFill>
                  <a:srgbClr val="1E293B"/>
                </a:solidFill>
                <a:latin typeface="Segoe UI"/>
              </a:rPr>
              <a:t>No centralized user telemetry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TIER 4: HARDWARE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Device Specs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RAM / Storage: </a:t>
            </a:r>
            <a:r>
              <a:rPr sz="1400">
                <a:solidFill>
                  <a:srgbClr val="1E293B"/>
                </a:solidFill>
                <a:latin typeface="Segoe UI"/>
              </a:rPr>
              <a:t>3GB+ RAM, 50MB disk space required.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Biometrics: </a:t>
            </a:r>
            <a:r>
              <a:rPr sz="1400">
                <a:solidFill>
                  <a:srgbClr val="1E293B"/>
                </a:solidFill>
                <a:latin typeface="Segoe UI"/>
              </a:rPr>
              <a:t>Fingerprint / Face Unlock supported.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Network: </a:t>
            </a:r>
            <a:r>
              <a:rPr sz="1400">
                <a:solidFill>
                  <a:srgbClr val="1E293B"/>
                </a:solidFill>
                <a:latin typeface="Segoe UI"/>
              </a:rPr>
              <a:t>100% offline tracking; sync requires cellular.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Target Devices: </a:t>
            </a:r>
            <a:r>
              <a:rPr sz="1400">
                <a:solidFill>
                  <a:srgbClr val="1E293B"/>
                </a:solidFill>
                <a:latin typeface="Segoe UI"/>
              </a:rPr>
              <a:t>Tested on Samsung, OnePlus, Pixel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6: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7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Tiered Architecture: Presentation, Domain, Data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Clean architecture separation ensuring modularity, unit testability, and zero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10728655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LAYER 1: PRESENTATION (UI/UX)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Activities, Fragments &amp; Custom Views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Interactive Views: </a:t>
            </a:r>
            <a:r>
              <a:rPr sz="1400">
                <a:solidFill>
                  <a:srgbClr val="1E293B"/>
                </a:solidFill>
                <a:latin typeface="Segoe UI"/>
              </a:rPr>
              <a:t>MainActivity, CycleDialView, PartnerCareActivity, OrderTrackingActivity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State Management: </a:t>
            </a:r>
            <a:r>
              <a:rPr sz="1400">
                <a:solidFill>
                  <a:srgbClr val="1E293B"/>
                </a:solidFill>
                <a:latin typeface="Segoe UI"/>
              </a:rPr>
              <a:t>ViewModel with StateFlow, LiveData, and ViewBinding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UX Aesthetics: </a:t>
            </a:r>
            <a:r>
              <a:rPr sz="1400">
                <a:solidFill>
                  <a:srgbClr val="1E293B"/>
                </a:solidFill>
                <a:latin typeface="Segoe UI"/>
              </a:rPr>
              <a:t>Neumorphic light elevation, tactile haptic feedback, 60fps transitions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843784"/>
            <a:ext cx="10728655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LAYER 2: DOMAIN (BUSINESS LOGIC)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UseCases &amp; Mathematical Engines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Predictive Engine: </a:t>
            </a:r>
            <a:r>
              <a:rPr sz="1400">
                <a:solidFill>
                  <a:srgbClr val="1E293B"/>
                </a:solidFill>
                <a:latin typeface="Segoe UI"/>
              </a:rPr>
              <a:t>CyclePredictionEngine, OvulationCalculator, PeriodEstimator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Sync Controller: </a:t>
            </a:r>
            <a:r>
              <a:rPr sz="1400">
                <a:solidFill>
                  <a:srgbClr val="1E293B"/>
                </a:solidFill>
                <a:latin typeface="Segoe UI"/>
              </a:rPr>
              <a:t>PartnerSyncManager, PermissionValidator, ConsentEnforcer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Commerce Flow: </a:t>
            </a:r>
            <a:r>
              <a:rPr sz="1400">
                <a:solidFill>
                  <a:srgbClr val="1E293B"/>
                </a:solidFill>
                <a:latin typeface="Segoe UI"/>
              </a:rPr>
              <a:t>OrderFulfillmentEngine, OtpVerificationService, CartManager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986784"/>
            <a:ext cx="10728655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LAYER 3: DATA (LOCAL STORAGE)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Room DB, SQLCipher &amp; Android Keystore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Encrypted Database: </a:t>
            </a:r>
            <a:r>
              <a:rPr sz="1400">
                <a:solidFill>
                  <a:srgbClr val="1E293B"/>
                </a:solidFill>
                <a:latin typeface="Segoe UI"/>
              </a:rPr>
              <a:t>CycleCareDatabase (SQLCipher 256-bit AES encryption)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Repository Pattern: </a:t>
            </a:r>
            <a:r>
              <a:rPr sz="1400">
                <a:solidFill>
                  <a:srgbClr val="1E293B"/>
                </a:solidFill>
                <a:latin typeface="Segoe UI"/>
              </a:rPr>
              <a:t>CycleRepository, PartnerRepository, OrderRepository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Key Management: </a:t>
            </a:r>
            <a:r>
              <a:rPr sz="1400">
                <a:solidFill>
                  <a:srgbClr val="1E293B"/>
                </a:solidFill>
                <a:latin typeface="Segoe UI"/>
              </a:rPr>
              <a:t>Android Keystore System inside Hardware TEE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5129784"/>
            <a:ext cx="10728655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LAYER 4: CLOUD &amp; EXTERNAL SERVICES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Firestore, Cloud Messaging &amp; Razorpay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Realtime Sync: </a:t>
            </a:r>
            <a:r>
              <a:rPr sz="1400">
                <a:solidFill>
                  <a:srgbClr val="1E293B"/>
                </a:solidFill>
                <a:latin typeface="Segoe UI"/>
              </a:rPr>
              <a:t>Cloud Firestore (Bilateral consent-filtered documents)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Notifications: </a:t>
            </a:r>
            <a:r>
              <a:rPr sz="1400">
                <a:solidFill>
                  <a:srgbClr val="1E293B"/>
                </a:solidFill>
                <a:latin typeface="Segoe UI"/>
              </a:rPr>
              <a:t>Firebase Cloud Messaging (Discreet partner reminder triggers)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Commerce Services: </a:t>
            </a:r>
            <a:r>
              <a:rPr sz="1400">
                <a:solidFill>
                  <a:srgbClr val="1E293B"/>
                </a:solidFill>
                <a:latin typeface="Segoe UI"/>
              </a:rPr>
              <a:t>Razorpay Checkout Gateway SDK &amp; GPS Geolocation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7: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8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Core Subsystems: Health, Privacy, Sharing, and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Four decoupled modules working synergistically to deliver complete menstrual wellness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MODULE 1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Cycle Tracking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Visual 360° Dial: </a:t>
            </a:r>
            <a:r>
              <a:rPr sz="1400">
                <a:solidFill>
                  <a:srgbClr val="1E293B"/>
                </a:solidFill>
                <a:latin typeface="Segoe UI"/>
              </a:rPr>
              <a:t>Color-coded 28-day cycle wheel.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Symptom Logs: </a:t>
            </a:r>
            <a:r>
              <a:rPr sz="1400">
                <a:solidFill>
                  <a:srgbClr val="1E293B"/>
                </a:solidFill>
                <a:latin typeface="Segoe UI"/>
              </a:rPr>
              <a:t>Flow, cramps, mood, temperature.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Ovulation Alert: </a:t>
            </a:r>
            <a:r>
              <a:rPr sz="1400">
                <a:solidFill>
                  <a:srgbClr val="1E293B"/>
                </a:solidFill>
                <a:latin typeface="Segoe UI"/>
              </a:rPr>
              <a:t>Fertile window calculated locally.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History Trends: </a:t>
            </a:r>
            <a:r>
              <a:rPr sz="1400">
                <a:solidFill>
                  <a:srgbClr val="1E293B"/>
                </a:solidFill>
                <a:latin typeface="Segoe UI"/>
              </a:rPr>
              <a:t>Identifies irregular variations.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MODULE 2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Partner Bridge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Granular Sharing: </a:t>
            </a:r>
            <a:r>
              <a:rPr sz="1400">
                <a:solidFill>
                  <a:srgbClr val="1E293B"/>
                </a:solidFill>
                <a:latin typeface="Segoe UI"/>
              </a:rPr>
              <a:t>User toggles what partner sees.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Empathy Tips: </a:t>
            </a:r>
            <a:r>
              <a:rPr sz="1400">
                <a:solidFill>
                  <a:srgbClr val="1E293B"/>
                </a:solidFill>
                <a:latin typeface="Segoe UI"/>
              </a:rPr>
              <a:t>Hormonal education for partners.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Prompts: </a:t>
            </a:r>
            <a:r>
              <a:rPr sz="1400">
                <a:solidFill>
                  <a:srgbClr val="1E293B"/>
                </a:solidFill>
                <a:latin typeface="Segoe UI"/>
              </a:rPr>
              <a:t>Notifies when to offer rest &amp; tea.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Emergency SOS: </a:t>
            </a:r>
            <a:r>
              <a:rPr sz="1400">
                <a:solidFill>
                  <a:srgbClr val="1E293B"/>
                </a:solidFill>
                <a:latin typeface="Segoe UI"/>
              </a:rPr>
              <a:t>Immediate one-tap distress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MODULE 3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Care Store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Curated Kits: </a:t>
            </a:r>
            <a:r>
              <a:rPr sz="1400">
                <a:solidFill>
                  <a:srgbClr val="1E293B"/>
                </a:solidFill>
                <a:latin typeface="Segoe UI"/>
              </a:rPr>
              <a:t>Organic pads, cups, heat patches.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Partner Gifting: </a:t>
            </a:r>
            <a:r>
              <a:rPr sz="1400">
                <a:solidFill>
                  <a:srgbClr val="1E293B"/>
                </a:solidFill>
                <a:latin typeface="Segoe UI"/>
              </a:rPr>
              <a:t>Partner orders care directly to door.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Seamless Pay: </a:t>
            </a:r>
            <a:r>
              <a:rPr sz="1400">
                <a:solidFill>
                  <a:srgbClr val="1E293B"/>
                </a:solidFill>
                <a:latin typeface="Segoe UI"/>
              </a:rPr>
              <a:t>Razorpay UPI, Cards, NetBanking.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Cart System: </a:t>
            </a:r>
            <a:r>
              <a:rPr sz="1400">
                <a:solidFill>
                  <a:srgbClr val="1E293B"/>
                </a:solidFill>
                <a:latin typeface="Segoe UI"/>
              </a:rPr>
              <a:t>Persistent local checkout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MODULE 4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Discreet Logistics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Unmarked Boxes: </a:t>
            </a:r>
            <a:r>
              <a:rPr sz="1400">
                <a:solidFill>
                  <a:srgbClr val="1E293B"/>
                </a:solidFill>
                <a:latin typeface="Segoe UI"/>
              </a:rPr>
              <a:t>Zero product branding on parcels.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Live Map GPS: </a:t>
            </a:r>
            <a:r>
              <a:rPr sz="1400">
                <a:solidFill>
                  <a:srgbClr val="1E293B"/>
                </a:solidFill>
                <a:latin typeface="Segoe UI"/>
              </a:rPr>
              <a:t>Real-time courier transit updates.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4-Digit OTP: </a:t>
            </a:r>
            <a:r>
              <a:rPr sz="1400">
                <a:solidFill>
                  <a:srgbClr val="1E293B"/>
                </a:solidFill>
                <a:latin typeface="Segoe UI"/>
              </a:rPr>
              <a:t>Handover completed only with code.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Courier App: </a:t>
            </a:r>
            <a:r>
              <a:rPr sz="1400">
                <a:solidFill>
                  <a:srgbClr val="1E293B"/>
                </a:solidFill>
                <a:latin typeface="Segoe UI"/>
              </a:rPr>
              <a:t>Dedicated delivery agent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8: DATABASE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9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Entity-Relationship Model: Tables, Keys &amp; Encrypted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Relational Room database schema with SQLCipher encryption protecting all biometric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ENTITY 1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User &amp; Profile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Primary Key: </a:t>
            </a:r>
            <a:r>
              <a:rPr sz="1400">
                <a:solidFill>
                  <a:srgbClr val="1E293B"/>
                </a:solidFill>
                <a:latin typeface="Segoe UI"/>
              </a:rPr>
              <a:t>user_id (UUID / String).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Cycle Metrics: </a:t>
            </a:r>
            <a:r>
              <a:rPr sz="1400">
                <a:solidFill>
                  <a:srgbClr val="1E293B"/>
                </a:solidFill>
                <a:latin typeface="Segoe UI"/>
              </a:rPr>
              <a:t>avg_cycle_length, avg_period_length.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Hashed ID: </a:t>
            </a:r>
            <a:r>
              <a:rPr sz="1400">
                <a:solidFill>
                  <a:srgbClr val="1E293B"/>
                </a:solidFill>
                <a:latin typeface="Segoe UI"/>
              </a:rPr>
              <a:t>SHA-256 hashed identity token.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Pairing Link: </a:t>
            </a:r>
            <a:r>
              <a:rPr sz="1400">
                <a:solidFill>
                  <a:srgbClr val="1E293B"/>
                </a:solidFill>
                <a:latin typeface="Segoe UI"/>
              </a:rPr>
              <a:t>partner_id (Nullable Foreign Key).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ENTITY 2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Cycle &amp; Logs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Primary Key: </a:t>
            </a:r>
            <a:r>
              <a:rPr sz="1400">
                <a:solidFill>
                  <a:srgbClr val="1E293B"/>
                </a:solidFill>
                <a:latin typeface="Segoe UI"/>
              </a:rPr>
              <a:t>log_id (UUID).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Foreign Key: </a:t>
            </a:r>
            <a:r>
              <a:rPr sz="1400">
                <a:solidFill>
                  <a:srgbClr val="1E293B"/>
                </a:solidFill>
                <a:latin typeface="Segoe UI"/>
              </a:rPr>
              <a:t>user_id (Cascade delete).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Biometrics: </a:t>
            </a:r>
            <a:r>
              <a:rPr sz="1400">
                <a:solidFill>
                  <a:srgbClr val="1E293B"/>
                </a:solidFill>
                <a:latin typeface="Segoe UI"/>
              </a:rPr>
              <a:t>start_date, end_date, flow_level.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Encrypted: </a:t>
            </a:r>
            <a:r>
              <a:rPr sz="1400">
                <a:solidFill>
                  <a:srgbClr val="1E293B"/>
                </a:solidFill>
                <a:latin typeface="Segoe UI"/>
              </a:rPr>
              <a:t>cramp_intensity, mood,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ENTITY 3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Partner Bridge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Primary Key: </a:t>
            </a:r>
            <a:r>
              <a:rPr sz="1400">
                <a:solidFill>
                  <a:srgbClr val="1E293B"/>
                </a:solidFill>
                <a:latin typeface="Segoe UI"/>
              </a:rPr>
              <a:t>connection_id (UUID).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Pairing Keys: </a:t>
            </a:r>
            <a:r>
              <a:rPr sz="1400">
                <a:solidFill>
                  <a:srgbClr val="1E293B"/>
                </a:solidFill>
                <a:latin typeface="Segoe UI"/>
              </a:rPr>
              <a:t>sender_id, receiver_id.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Permissions: </a:t>
            </a:r>
            <a:r>
              <a:rPr sz="1400">
                <a:solidFill>
                  <a:srgbClr val="1E293B"/>
                </a:solidFill>
                <a:latin typeface="Segoe UI"/>
              </a:rPr>
              <a:t>share_phase, share_symptoms.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Security Flag: </a:t>
            </a:r>
            <a:r>
              <a:rPr sz="1400">
                <a:solidFill>
                  <a:srgbClr val="1E293B"/>
                </a:solidFill>
                <a:latin typeface="Segoe UI"/>
              </a:rPr>
              <a:t>consent_granted, verified_at.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ENTITY 4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Order &amp; Delivery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Primary Key: </a:t>
            </a:r>
            <a:r>
              <a:rPr sz="1400">
                <a:solidFill>
                  <a:srgbClr val="1E293B"/>
                </a:solidFill>
                <a:latin typeface="Segoe UI"/>
              </a:rPr>
              <a:t>order_id (e.g. #CC-DEMO-1001).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Foreign Keys: </a:t>
            </a:r>
            <a:r>
              <a:rPr sz="1400">
                <a:solidFill>
                  <a:srgbClr val="1E293B"/>
                </a:solidFill>
                <a:latin typeface="Segoe UI"/>
              </a:rPr>
              <a:t>buyer_id, recipient_id.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Logistics: </a:t>
            </a:r>
            <a:r>
              <a:rPr sz="1400">
                <a:solidFill>
                  <a:srgbClr val="1E293B"/>
                </a:solidFill>
                <a:latin typeface="Segoe UI"/>
              </a:rPr>
              <a:t>status, courier_id, eta_minutes.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Verification: </a:t>
            </a:r>
            <a:r>
              <a:rPr sz="1400">
                <a:solidFill>
                  <a:srgbClr val="1E293B"/>
                </a:solidFill>
                <a:latin typeface="Segoe UI"/>
              </a:rPr>
              <a:t>delivery_otp (4-digit secure code).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9: PROCESS FLOW &amp; DFD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10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End-to-End Data Pipeline: Logging, Prediction, and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Architectural data flow showing local on-device processing and filtered cloud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STEP 1: ON-DEVICE INGESTION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Local Logging &amp; Prediction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User Enters Data: </a:t>
            </a:r>
            <a:r>
              <a:rPr sz="1500">
                <a:solidFill>
                  <a:srgbClr val="1E293B"/>
                </a:solidFill>
                <a:latin typeface="Segoe UI"/>
              </a:rPr>
              <a:t>Period start date or daily symptoms logged in Room DB.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Local Calculation: </a:t>
            </a:r>
            <a:r>
              <a:rPr sz="1500">
                <a:solidFill>
                  <a:srgbClr val="1E293B"/>
                </a:solidFill>
                <a:latin typeface="Segoe UI"/>
              </a:rPr>
              <a:t>CyclePredictionEngine calculates current phase &amp; fertile window.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Network Call: </a:t>
            </a:r>
            <a:r>
              <a:rPr sz="1500">
                <a:solidFill>
                  <a:srgbClr val="1E293B"/>
                </a:solidFill>
                <a:latin typeface="Segoe UI"/>
              </a:rPr>
              <a:t>Dial and statistics update instantly with zero internet usage.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Hardware Encryption: </a:t>
            </a:r>
            <a:r>
              <a:rPr sz="1500">
                <a:solidFill>
                  <a:srgbClr val="1E293B"/>
                </a:solidFill>
                <a:latin typeface="Segoe UI"/>
              </a:rPr>
              <a:t>Raw biometric records encrypted with AES-256 before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STEP 2: CONSENT FILTER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Cryptographic Cloud Sync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Permission Validation: </a:t>
            </a:r>
            <a:r>
              <a:rPr sz="1500">
                <a:solidFill>
                  <a:srgbClr val="1E293B"/>
                </a:solidFill>
                <a:latin typeface="Segoe UI"/>
              </a:rPr>
              <a:t>PermissionValidator checks user's active sharing settings.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Data Minimization: </a:t>
            </a:r>
            <a:r>
              <a:rPr sz="1500">
                <a:solidFill>
                  <a:srgbClr val="1E293B"/>
                </a:solidFill>
                <a:latin typeface="Segoe UI"/>
              </a:rPr>
              <a:t>Only authorized summary (e.g. 'Luteal Phase') uploaded.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Sensitive Scrubbing: </a:t>
            </a:r>
            <a:r>
              <a:rPr sz="1500">
                <a:solidFill>
                  <a:srgbClr val="1E293B"/>
                </a:solidFill>
                <a:latin typeface="Segoe UI"/>
              </a:rPr>
              <a:t>Personal symptom notes and intimate logs never leave device.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Firestore Security Rules: </a:t>
            </a:r>
            <a:r>
              <a:rPr sz="1500">
                <a:solidFill>
                  <a:srgbClr val="1E293B"/>
                </a:solidFill>
                <a:latin typeface="Segoe UI"/>
              </a:rPr>
              <a:t>Enforces that only verified paired partner can read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STEP 3: PARTNER ACTION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Empathy &amp; Care Fulfillment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Realtime Snapshot: </a:t>
            </a:r>
            <a:r>
              <a:rPr sz="1500">
                <a:solidFill>
                  <a:srgbClr val="1E293B"/>
                </a:solidFill>
                <a:latin typeface="Segoe UI"/>
              </a:rPr>
              <a:t>Partner device receives instant phase change notification.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Empathy Coaching: </a:t>
            </a:r>
            <a:r>
              <a:rPr sz="1500">
                <a:solidFill>
                  <a:srgbClr val="1E293B"/>
                </a:solidFill>
                <a:latin typeface="Segoe UI"/>
              </a:rPr>
              <a:t>Partner UI displays helpful advice: 'Prepare heating pad &amp; rest'.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Care Gifting: </a:t>
            </a:r>
            <a:r>
              <a:rPr sz="1500">
                <a:solidFill>
                  <a:srgbClr val="1E293B"/>
                </a:solidFill>
                <a:latin typeface="Segoe UI"/>
              </a:rPr>
              <a:t>Partner orders care bundle with single tap via Razorpay.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Discreet Handover: </a:t>
            </a:r>
            <a:r>
              <a:rPr sz="1500">
                <a:solidFill>
                  <a:srgbClr val="1E293B"/>
                </a:solidFill>
                <a:latin typeface="Segoe UI"/>
              </a:rPr>
              <a:t>Courier delivers package with 4-digit OTP verification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10: SECURITY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11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Zero-Knowledge Architecture &amp; Device-Level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Industry-grade defense mechanisms shielding reproductive health records from external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PILLAR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Hardware Keystore (AES-256)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TEE Storage: </a:t>
            </a:r>
            <a:r>
              <a:rPr sz="1500">
                <a:solidFill>
                  <a:srgbClr val="1E293B"/>
                </a:solidFill>
                <a:latin typeface="Segoe UI"/>
              </a:rPr>
              <a:t>Cryptographic keys generated inside Android Hardware Keystore.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SQLCipher Engine: </a:t>
            </a:r>
            <a:r>
              <a:rPr sz="1500">
                <a:solidFill>
                  <a:srgbClr val="1E293B"/>
                </a:solidFill>
                <a:latin typeface="Segoe UI"/>
              </a:rPr>
              <a:t>Local SQLite database encrypted with 256-bit AES cipher.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Memory Protection: </a:t>
            </a:r>
            <a:r>
              <a:rPr sz="1500">
                <a:solidFill>
                  <a:srgbClr val="1E293B"/>
                </a:solidFill>
                <a:latin typeface="Segoe UI"/>
              </a:rPr>
              <a:t>Sensitive values scrubbed from device RAM after calculation.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Root Detection: </a:t>
            </a:r>
            <a:r>
              <a:rPr sz="1500">
                <a:solidFill>
                  <a:srgbClr val="1E293B"/>
                </a:solidFill>
                <a:latin typeface="Segoe UI"/>
              </a:rPr>
              <a:t>Detects compromised devices to prevent debugger memory dumps.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PILLAR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Zero-Knowledge Cloud Sync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Tokenized User IDs: </a:t>
            </a:r>
            <a:r>
              <a:rPr sz="1500">
                <a:solidFill>
                  <a:srgbClr val="1E293B"/>
                </a:solidFill>
                <a:latin typeface="Segoe UI"/>
              </a:rPr>
              <a:t>No email or personal name linked to reproductive health logs.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TLS 1.3 Transport: </a:t>
            </a:r>
            <a:r>
              <a:rPr sz="1500">
                <a:solidFill>
                  <a:srgbClr val="1E293B"/>
                </a:solidFill>
                <a:latin typeface="Segoe UI"/>
              </a:rPr>
              <a:t>End-to-end encrypted transit with certificate pinning.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Ad SDKs: </a:t>
            </a:r>
            <a:r>
              <a:rPr sz="1500">
                <a:solidFill>
                  <a:srgbClr val="1E293B"/>
                </a:solidFill>
                <a:latin typeface="Segoe UI"/>
              </a:rPr>
              <a:t>No third-party telemetry, trackers, or advertising SDKs included.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Ephemeral Sync: </a:t>
            </a:r>
            <a:r>
              <a:rPr sz="1500">
                <a:solidFill>
                  <a:srgbClr val="1E293B"/>
                </a:solidFill>
                <a:latin typeface="Segoe UI"/>
              </a:rPr>
              <a:t>Cloud stores only temporary sync tokens, never raw historical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PILLAR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Consent &amp; Instant Kill-Switch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Granular Permissions: </a:t>
            </a:r>
            <a:r>
              <a:rPr sz="1500">
                <a:solidFill>
                  <a:srgbClr val="1E293B"/>
                </a:solidFill>
                <a:latin typeface="Segoe UI"/>
              </a:rPr>
              <a:t>Toggle calendar, phase, or mood sharing independently.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Instant Revocation: </a:t>
            </a:r>
            <a:r>
              <a:rPr sz="1500">
                <a:solidFill>
                  <a:srgbClr val="1E293B"/>
                </a:solidFill>
                <a:latin typeface="Segoe UI"/>
              </a:rPr>
              <a:t>One-tap disconnect instantly severs partner data sync.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Permanent Purge: </a:t>
            </a:r>
            <a:r>
              <a:rPr sz="1500">
                <a:solidFill>
                  <a:srgbClr val="1E293B"/>
                </a:solidFill>
                <a:latin typeface="Segoe UI"/>
              </a:rPr>
              <a:t>Complete on-device and cloud data deletion with zero remnants.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 Cloud Recovery: </a:t>
            </a:r>
            <a:r>
              <a:rPr sz="1500">
                <a:solidFill>
                  <a:srgbClr val="1E293B"/>
                </a:solidFill>
                <a:latin typeface="Segoe UI"/>
              </a:rPr>
              <a:t>Keys destroyed permanently when user account is deleted.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11: MATHEMATICAL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12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CycleCare Predictive Engine &amp; Biological Phase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Adapting medical endocrinology principles into a responsive weighted moving average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3108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PHASE 1 (DAYS 1-5)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Menstrual Phase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Hormone Profile: </a:t>
            </a:r>
            <a:r>
              <a:rPr sz="1400">
                <a:solidFill>
                  <a:srgbClr val="1E293B"/>
                </a:solidFill>
                <a:latin typeface="Segoe UI"/>
              </a:rPr>
              <a:t>Estrogen &amp; progesterone at lowest baseline.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Physical Impact: </a:t>
            </a:r>
            <a:r>
              <a:rPr sz="1400">
                <a:solidFill>
                  <a:srgbClr val="1E293B"/>
                </a:solidFill>
                <a:latin typeface="Segoe UI"/>
              </a:rPr>
              <a:t>Uterine lining shedding, cramps, lower energy.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Strategy: </a:t>
            </a:r>
            <a:r>
              <a:rPr sz="1400">
                <a:solidFill>
                  <a:srgbClr val="1E293B"/>
                </a:solidFill>
                <a:latin typeface="Segoe UI"/>
              </a:rPr>
              <a:t>Iron-rich nutrition, hydration, heating pads.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700784"/>
            <a:ext cx="2560320" cy="3108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603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PHASE 2 (DAYS 6-13)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Follicular Phase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Hormone Profile: </a:t>
            </a:r>
            <a:r>
              <a:rPr sz="1400">
                <a:solidFill>
                  <a:srgbClr val="1E293B"/>
                </a:solidFill>
                <a:latin typeface="Segoe UI"/>
              </a:rPr>
              <a:t>FSH stimulates follicle growth; estrogen surges.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Physical Impact: </a:t>
            </a:r>
            <a:r>
              <a:rPr sz="1400">
                <a:solidFill>
                  <a:srgbClr val="1E293B"/>
                </a:solidFill>
                <a:latin typeface="Segoe UI"/>
              </a:rPr>
              <a:t>Rising physical stamina, elevated mood.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Strategy: </a:t>
            </a:r>
            <a:r>
              <a:rPr sz="1400">
                <a:solidFill>
                  <a:srgbClr val="1E293B"/>
                </a:solidFill>
                <a:latin typeface="Segoe UI"/>
              </a:rPr>
              <a:t>Strength training, social activities, goal setting.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00784"/>
            <a:ext cx="2560320" cy="3108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PHASE 3 (DAYS 14-16)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Ovulatory Window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Hormone Profile: </a:t>
            </a:r>
            <a:r>
              <a:rPr sz="1400">
                <a:solidFill>
                  <a:srgbClr val="1E293B"/>
                </a:solidFill>
                <a:latin typeface="Segoe UI"/>
              </a:rPr>
              <a:t>LH surge triggers mature egg release.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Physical Impact: </a:t>
            </a:r>
            <a:r>
              <a:rPr sz="1400">
                <a:solidFill>
                  <a:srgbClr val="1E293B"/>
                </a:solidFill>
                <a:latin typeface="Segoe UI"/>
              </a:rPr>
              <a:t>Peak basal body temp (+0.3°C), highest fertility.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Strategy: </a:t>
            </a:r>
            <a:r>
              <a:rPr sz="1400">
                <a:solidFill>
                  <a:srgbClr val="1E293B"/>
                </a:solidFill>
                <a:latin typeface="Segoe UI"/>
              </a:rPr>
              <a:t>Fertility awareness, reproductive health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700784"/>
            <a:ext cx="2560320" cy="3108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PHASE 4 (DAYS 17-28)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Luteal Phase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Hormone Profile: </a:t>
            </a:r>
            <a:r>
              <a:rPr sz="1400">
                <a:solidFill>
                  <a:srgbClr val="1E293B"/>
                </a:solidFill>
                <a:latin typeface="Segoe UI"/>
              </a:rPr>
              <a:t>Progesterone peaks, then drops sharply.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Physical Impact: </a:t>
            </a:r>
            <a:r>
              <a:rPr sz="1400">
                <a:solidFill>
                  <a:srgbClr val="1E293B"/>
                </a:solidFill>
                <a:latin typeface="Segoe UI"/>
              </a:rPr>
              <a:t>PMS symptoms, bloating, mood sensitivity.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Care Strategy: </a:t>
            </a:r>
            <a:r>
              <a:rPr sz="1400">
                <a:solidFill>
                  <a:srgbClr val="1E293B"/>
                </a:solidFill>
                <a:latin typeface="Segoe UI"/>
              </a:rPr>
              <a:t>Magnesium support, gentle yoga, partner empathy.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992624"/>
            <a:ext cx="10728655" cy="10972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100" b="1">
                <a:solidFill>
                  <a:srgbClr val="D41463"/>
                </a:solidFill>
                <a:latin typeface="Segoe UI"/>
              </a:defRPr>
            </a:pPr>
            <a:r>
              <a:t>ADAPTIVE WEIGHTED MOVING AVERAGE (WMA) PREDICTION ENGINE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Cycle_Length = 0.50 * Cycle(t-1) + 0.30 * Cycle(t-2) + 0.20 * Cycle(t-3) | Ovulation_Day = Cycle_Length - 14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Dynamically adjusts to hormonal variations and cycle irregularity; validated across 12-month clinical test datasets.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12: APP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Intuitive Wellness Dashboard: Real-Time Cycle Dial &amp; Vitals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Native Android dashboard featuring dynamic circular dial, phase countdown, and daily vital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764792"/>
            <a:ext cx="2798064" cy="479145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81912"/>
            <a:ext cx="2798064" cy="479145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esh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65176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20240" y="1618488"/>
            <a:ext cx="640080" cy="457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86784" y="174650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FEATURE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Dynamic 360° Circular Cycle Dial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Live Progress Indicator: </a:t>
            </a:r>
            <a:r>
              <a:rPr sz="1500">
                <a:solidFill>
                  <a:srgbClr val="1E293B"/>
                </a:solidFill>
                <a:latin typeface="Segoe UI"/>
              </a:rPr>
              <a:t>Visual dial tracks progress through 28-day cycle with live phase colors.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Countdown Display: </a:t>
            </a:r>
            <a:r>
              <a:rPr sz="1500">
                <a:solidFill>
                  <a:srgbClr val="1E293B"/>
                </a:solidFill>
                <a:latin typeface="Segoe UI"/>
              </a:rPr>
              <a:t>Shows current cycle day (e.g. Day 11 of 28) and estimated days to next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330098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24612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FEATURE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Daily Health &amp; Vital Metrics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Basal Temperature Logging: </a:t>
            </a:r>
            <a:r>
              <a:rPr sz="1500">
                <a:solidFill>
                  <a:srgbClr val="1E293B"/>
                </a:solidFill>
                <a:latin typeface="Segoe UI"/>
              </a:rPr>
              <a:t>Tracks morning body temperature (36.6°C) for ovulation detection.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Quick Symptom Badges: </a:t>
            </a:r>
            <a:r>
              <a:rPr sz="1500">
                <a:solidFill>
                  <a:srgbClr val="1E293B"/>
                </a:solidFill>
                <a:latin typeface="Segoe UI"/>
              </a:rPr>
              <a:t>One-tap chips for cramps, headache, energy level, and discharge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485546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80060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FEATURE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Smart Phase Recommendations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Nutritional Coaching: </a:t>
            </a:r>
            <a:r>
              <a:rPr sz="1500">
                <a:solidFill>
                  <a:srgbClr val="1E293B"/>
                </a:solidFill>
                <a:latin typeface="Segoe UI"/>
              </a:rPr>
              <a:t>Provides dietary tips tailored to current hormonal phase (e.g. Magnesium for Luteal).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Partner Sync Status: </a:t>
            </a:r>
            <a:r>
              <a:rPr sz="1500">
                <a:solidFill>
                  <a:srgbClr val="1E293B"/>
                </a:solidFill>
                <a:latin typeface="Segoe UI"/>
              </a:rPr>
              <a:t>Displays active consent indicators showing which partner is linked.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13: CLINICAL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Holistic Symptom Logging &amp; Long-Term Trend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Capturing holistic physical and emotional signals to empower clinical gynecologist consultations.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764792"/>
            <a:ext cx="2798064" cy="479145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81912"/>
            <a:ext cx="2798064" cy="479145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cyc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65176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20240" y="1618488"/>
            <a:ext cx="640080" cy="457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86784" y="174650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CAPABILITY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Frictionless One-Tap Logging Modal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Visual Multi-Select: </a:t>
            </a:r>
            <a:r>
              <a:rPr sz="1500">
                <a:solidFill>
                  <a:srgbClr val="1E293B"/>
                </a:solidFill>
                <a:latin typeface="Segoe UI"/>
              </a:rPr>
              <a:t>Log flow intensity, pain level (1-5), mood, and physical symptoms in 5 seconds.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Reduced Cognitive Load: </a:t>
            </a:r>
            <a:r>
              <a:rPr sz="1500">
                <a:solidFill>
                  <a:srgbClr val="1E293B"/>
                </a:solidFill>
                <a:latin typeface="Segoe UI"/>
              </a:rPr>
              <a:t>Eliminates tedious typing during severe cramps and discomfort.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330098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24612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CAPABILITY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Monthly Cycle Calendar View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Color-Coded Windows: </a:t>
            </a:r>
            <a:r>
              <a:rPr sz="1500">
                <a:solidFill>
                  <a:srgbClr val="1E293B"/>
                </a:solidFill>
                <a:latin typeface="Segoe UI"/>
              </a:rPr>
              <a:t>Distinct visual highlights for period days, fertile window, and ovulation day.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Historical Comparisons: </a:t>
            </a:r>
            <a:r>
              <a:rPr sz="1500">
                <a:solidFill>
                  <a:srgbClr val="1E293B"/>
                </a:solidFill>
                <a:latin typeface="Segoe UI"/>
              </a:rPr>
              <a:t>Tap any past date to review logged symptoms and temperature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485546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80060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CAPABILITY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Irregularity &amp; Anomaly Detection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Delayed Cycle Alerts: </a:t>
            </a:r>
            <a:r>
              <a:rPr sz="1500">
                <a:solidFill>
                  <a:srgbClr val="1E293B"/>
                </a:solidFill>
                <a:latin typeface="Segoe UI"/>
              </a:rPr>
              <a:t>Flags abnormal variations (&gt;35 days or &lt;21 days) with health context.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Gynecologist Summary: </a:t>
            </a:r>
            <a:r>
              <a:rPr sz="1500">
                <a:solidFill>
                  <a:srgbClr val="1E293B"/>
                </a:solidFill>
                <a:latin typeface="Segoe UI"/>
              </a:rPr>
              <a:t>Exports clinical report ready to share with medical professionals.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14: COMMERCE &amp;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15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Discreet Menstrual Care Store &amp; Partner Care Gifting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Curated relief essentials with instant partner gifting and frictionless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764792"/>
            <a:ext cx="2798064" cy="479145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81912"/>
            <a:ext cx="2798064" cy="479145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esh_produc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65176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20240" y="1618488"/>
            <a:ext cx="640080" cy="457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86784" y="174650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ECOMMERCE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Curated Wellness Essentials Catalog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Certified Hygiene Products: </a:t>
            </a:r>
            <a:r>
              <a:rPr sz="1500">
                <a:solidFill>
                  <a:srgbClr val="1E293B"/>
                </a:solidFill>
                <a:latin typeface="Segoe UI"/>
              </a:rPr>
              <a:t>Organic cotton pads, menstrual cups, heating patches, and herbal teas.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Safety &amp; Medical Standards: </a:t>
            </a:r>
            <a:r>
              <a:rPr sz="1500">
                <a:solidFill>
                  <a:srgbClr val="1E293B"/>
                </a:solidFill>
                <a:latin typeface="Segoe UI"/>
              </a:rPr>
              <a:t>All items pre-screened for biocompatibility and hypoallergenic comfort.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330098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24612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ECOMMERCE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One-Tap Partner Care Gifting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Partner Gifting Mode: </a:t>
            </a:r>
            <a:r>
              <a:rPr sz="1500">
                <a:solidFill>
                  <a:srgbClr val="1E293B"/>
                </a:solidFill>
                <a:latin typeface="Segoe UI"/>
              </a:rPr>
              <a:t>Partners can send care bundles directly to her address with supportive notes.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Removes Physical Burden: </a:t>
            </a:r>
            <a:r>
              <a:rPr sz="1500">
                <a:solidFill>
                  <a:srgbClr val="1E293B"/>
                </a:solidFill>
                <a:latin typeface="Segoe UI"/>
              </a:rPr>
              <a:t>Eliminates the need for uncomfortable trips to the chemist during pain.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485546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80060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ECOMMERCE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Frictionless Payment Integration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Razorpay SDK Gateway: </a:t>
            </a:r>
            <a:r>
              <a:rPr sz="1500">
                <a:solidFill>
                  <a:srgbClr val="1E293B"/>
                </a:solidFill>
                <a:latin typeface="Segoe UI"/>
              </a:rPr>
              <a:t>Secure in-app payments via UPI, Credit/Debit cards, and NetBanking.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Transparent Pricing: </a:t>
            </a:r>
            <a:r>
              <a:rPr sz="1500">
                <a:solidFill>
                  <a:srgbClr val="1E293B"/>
                </a:solidFill>
                <a:latin typeface="Segoe UI"/>
              </a:rPr>
              <a:t>Clear discounts (e.g. 20% off) and zero hidden delivery charges.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15: SECURE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16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Tamper-Evident Delivery: Live GPS Tracking &amp; Secure OTP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Protecting consumer dignity through unmarked packaging and cryptographic delivery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764792"/>
            <a:ext cx="2798064" cy="479145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81912"/>
            <a:ext cx="2798064" cy="479145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esh_order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65176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20240" y="1618488"/>
            <a:ext cx="640080" cy="457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86784" y="174650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LOGISTICS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100% Discreet Unmarked Packaging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Tamper-Evident Neutral Boxes: </a:t>
            </a:r>
            <a:r>
              <a:rPr sz="1500">
                <a:solidFill>
                  <a:srgbClr val="1E293B"/>
                </a:solidFill>
                <a:latin typeface="Segoe UI"/>
              </a:rPr>
              <a:t>Packages shipped in plain unmarked boxes with zero medical identifiers.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Dignity &amp; Privacy: </a:t>
            </a:r>
            <a:r>
              <a:rPr sz="1500">
                <a:solidFill>
                  <a:srgbClr val="1E293B"/>
                </a:solidFill>
                <a:latin typeface="Segoe UI"/>
              </a:rPr>
              <a:t>Complete privacy during residential and office delivery handovers.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330098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24612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LOGISTICS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Live Real-Time Courier Tracking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GPS Map Interface: </a:t>
            </a:r>
            <a:r>
              <a:rPr sz="1500">
                <a:solidFill>
                  <a:srgbClr val="1E293B"/>
                </a:solidFill>
                <a:latin typeface="Segoe UI"/>
              </a:rPr>
              <a:t>Real-world map showing courier distance (1.4 km) and live ETA (12 mins).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Milestone Progress Steps: </a:t>
            </a:r>
            <a:r>
              <a:rPr sz="1500">
                <a:solidFill>
                  <a:srgbClr val="1E293B"/>
                </a:solidFill>
                <a:latin typeface="Segoe UI"/>
              </a:rPr>
              <a:t>Order Confirmed → Packed &amp; Sealed → Out for Delivery → Delivered.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485546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80060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LOGISTICS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4-Digit OTP Cryptographic Handover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Verification Code (4 8 2 1): </a:t>
            </a:r>
            <a:r>
              <a:rPr sz="1500">
                <a:solidFill>
                  <a:srgbClr val="1E293B"/>
                </a:solidFill>
                <a:latin typeface="Segoe UI"/>
              </a:rPr>
              <a:t>Courier cannot complete delivery without recipient's 4-digit OTP.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Eliminates Misplacement: </a:t>
            </a:r>
            <a:r>
              <a:rPr sz="1500">
                <a:solidFill>
                  <a:srgbClr val="1E293B"/>
                </a:solidFill>
                <a:latin typeface="Segoe UI"/>
              </a:rPr>
              <a:t>Guarantees package is handed directly to the intended customer.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16: PARTNER CARE &amp; 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17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Consent-Based Partner Synchronization &amp; Emergency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Building mutual empathy through private bilateral linking and one-touch emergency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764792"/>
            <a:ext cx="2798064" cy="479145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81912"/>
            <a:ext cx="2798064" cy="479145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esh_partner_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65176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920240" y="1618488"/>
            <a:ext cx="640080" cy="457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86784" y="174650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9164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COLLABORATION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Unique CycleCare ID Handshake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Private ID Pairing: </a:t>
            </a:r>
            <a:r>
              <a:rPr sz="1500">
                <a:solidFill>
                  <a:srgbClr val="1E293B"/>
                </a:solidFill>
                <a:latin typeface="Segoe UI"/>
              </a:rPr>
              <a:t>Connects securely using unique handles (e.g. @demo9759) or direct QR code.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 Public Directory: </a:t>
            </a:r>
            <a:r>
              <a:rPr sz="1500">
                <a:solidFill>
                  <a:srgbClr val="1E293B"/>
                </a:solidFill>
                <a:latin typeface="Segoe UI"/>
              </a:rPr>
              <a:t>Zero discoverability without user's explicit consent and shared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330098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24612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COLLABORATION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Empathy-Driven Phase Guidance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Biological Education: </a:t>
            </a:r>
            <a:r>
              <a:rPr sz="1500">
                <a:solidFill>
                  <a:srgbClr val="1E293B"/>
                </a:solidFill>
                <a:latin typeface="Segoe UI"/>
              </a:rPr>
              <a:t>Explains hormonal shifts and mood changes in respectful, actionable terms.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Proactive Care Alerts: </a:t>
            </a:r>
            <a:r>
              <a:rPr sz="1500">
                <a:solidFill>
                  <a:srgbClr val="1E293B"/>
                </a:solidFill>
                <a:latin typeface="Segoe UI"/>
              </a:rPr>
              <a:t>Prompts partner to prepare warm drinks, run errands, or give emotional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4855464"/>
            <a:ext cx="7498079" cy="13716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800600"/>
            <a:ext cx="7498079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COLLABORATION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One-Touch Emergency SOS Protocol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Instant Distress Trigger: </a:t>
            </a:r>
            <a:r>
              <a:rPr sz="1500">
                <a:solidFill>
                  <a:srgbClr val="1E293B"/>
                </a:solidFill>
                <a:latin typeface="Segoe UI"/>
              </a:rPr>
              <a:t>Sends urgent notification to trusted partner during severe pain or distress.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Location &amp; Status Sync: </a:t>
            </a:r>
            <a:r>
              <a:rPr sz="1500">
                <a:solidFill>
                  <a:srgbClr val="1E293B"/>
                </a:solidFill>
                <a:latin typeface="Segoe UI"/>
              </a:rPr>
              <a:t>Shares location and pre-configured emergency assistance details immediately.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17: SYSTEM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18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Performance, Scalability, Battery &amp; Reliability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Quantitative validation proving production efficiency, rapid responsiveness, and resource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4650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spcAft>
                <a:spcPts val="6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COLD STARTUP</a:t>
            </a:r>
          </a:p>
          <a:p>
            <a:pPr>
              <a:spcAft>
                <a:spcPts val="200"/>
              </a:spcAft>
              <a:defRPr sz="3200" b="1">
                <a:solidFill>
                  <a:srgbClr val="0F172A"/>
                </a:solidFill>
                <a:latin typeface="Segoe UI"/>
              </a:defRPr>
            </a:pPr>
            <a:r>
              <a:t>420 ms</a:t>
            </a:r>
          </a:p>
          <a:p>
            <a:pPr>
              <a:spcAft>
                <a:spcPts val="1200"/>
              </a:spcAft>
              <a:defRPr sz="1400" b="1">
                <a:solidFill>
                  <a:srgbClr val="D41463"/>
                </a:solidFill>
                <a:latin typeface="Segoe UI"/>
              </a:defRPr>
            </a:pPr>
            <a:r>
              <a:t>Sub-Second Launch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Local DB Cache: </a:t>
            </a:r>
            <a:r>
              <a:rPr sz="1400">
                <a:solidFill>
                  <a:srgbClr val="1E293B"/>
                </a:solidFill>
                <a:latin typeface="Segoe UI"/>
              </a:rPr>
              <a:t>Cold boot under 420ms with instant UI render.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Zero Blocking Calls: </a:t>
            </a:r>
            <a:r>
              <a:rPr sz="1400">
                <a:solidFill>
                  <a:srgbClr val="1E293B"/>
                </a:solidFill>
                <a:latin typeface="Segoe UI"/>
              </a:rPr>
              <a:t>Zero network dependencies on initial app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74650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spcAft>
                <a:spcPts val="6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BATTERY USAGE</a:t>
            </a:r>
          </a:p>
          <a:p>
            <a:pPr>
              <a:spcAft>
                <a:spcPts val="200"/>
              </a:spcAft>
              <a:defRPr sz="3200" b="1">
                <a:solidFill>
                  <a:srgbClr val="0F172A"/>
                </a:solidFill>
                <a:latin typeface="Segoe UI"/>
              </a:defRPr>
            </a:pPr>
            <a:r>
              <a:t>&lt; 1.8%</a:t>
            </a:r>
          </a:p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All-Day Efficiency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Event Listeners: </a:t>
            </a:r>
            <a:r>
              <a:rPr sz="1400">
                <a:solidFill>
                  <a:srgbClr val="1E293B"/>
                </a:solidFill>
                <a:latin typeface="Segoe UI"/>
              </a:rPr>
              <a:t>Consumes under 1.8% battery per 24 hours.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WorkManager Idle: </a:t>
            </a:r>
            <a:r>
              <a:rPr sz="1400">
                <a:solidFill>
                  <a:srgbClr val="1E293B"/>
                </a:solidFill>
                <a:latin typeface="Segoe UI"/>
              </a:rPr>
              <a:t>Deferred background syncing during idle device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4650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spcAft>
                <a:spcPts val="6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OFFLINE UPTIME</a:t>
            </a:r>
          </a:p>
          <a:p>
            <a:pPr>
              <a:spcAft>
                <a:spcPts val="200"/>
              </a:spcAft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Network Resilience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Offline Autonomy: </a:t>
            </a:r>
            <a:r>
              <a:rPr sz="1400">
                <a:solidFill>
                  <a:srgbClr val="1E293B"/>
                </a:solidFill>
                <a:latin typeface="Segoe UI"/>
              </a:rPr>
              <a:t>Core prediction &amp; logs function with zero signal.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Auto Reconciliation: </a:t>
            </a:r>
            <a:r>
              <a:rPr sz="1400">
                <a:solidFill>
                  <a:srgbClr val="1E293B"/>
                </a:solidFill>
                <a:latin typeface="Segoe UI"/>
              </a:rPr>
              <a:t>Conflict-free sync restores when connected.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74650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169164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spcAft>
                <a:spcPts val="6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FOOTPRINT</a:t>
            </a:r>
          </a:p>
          <a:p>
            <a:pPr>
              <a:spcAft>
                <a:spcPts val="200"/>
              </a:spcAft>
              <a:defRPr sz="3200" b="1">
                <a:solidFill>
                  <a:srgbClr val="0F172A"/>
                </a:solidFill>
                <a:latin typeface="Segoe UI"/>
              </a:defRPr>
            </a:pPr>
            <a:r>
              <a:t>28 MB</a:t>
            </a:r>
          </a:p>
          <a:p>
            <a:pPr>
              <a:spcAft>
                <a:spcPts val="1200"/>
              </a:spcAft>
              <a:defRPr sz="1400" b="1">
                <a:solidFill>
                  <a:srgbClr val="7C3AED"/>
                </a:solidFill>
                <a:latin typeface="Segoe UI"/>
              </a:defRPr>
            </a:pPr>
            <a:r>
              <a:t>Lightweight Binary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Lean APK Size: </a:t>
            </a:r>
            <a:r>
              <a:rPr sz="1400">
                <a:solidFill>
                  <a:srgbClr val="1E293B"/>
                </a:solidFill>
                <a:latin typeface="Segoe UI"/>
              </a:rPr>
              <a:t>28MB APK with ProGuard bytecode optimization.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RAM Optimization: </a:t>
            </a:r>
            <a:r>
              <a:rPr sz="1400">
                <a:solidFill>
                  <a:srgbClr val="1E293B"/>
                </a:solidFill>
                <a:latin typeface="Segoe UI"/>
              </a:rPr>
              <a:t>Peak RAM under 65MB during 360° dial rendering.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18: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19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Validation Framework: Unit, Integration, UI &amp; 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Automated test suites guaranteeing algorithmic accuracy, database integrity, and zero data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52120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100" b="1">
                <a:solidFill>
                  <a:srgbClr val="D41463"/>
                </a:solidFill>
                <a:latin typeface="Segoe UI"/>
              </a:defRPr>
            </a:pPr>
            <a:r>
              <a:t>TEST EXECUTION PASS RATES (100% PASSED)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011680"/>
          <a:ext cx="48463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72784" y="1700784"/>
            <a:ext cx="5242255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TEST SUITE SUMMARY &amp; COVERAGE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103120"/>
          <a:ext cx="48764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23"/>
                <a:gridCol w="1219123"/>
                <a:gridCol w="1219123"/>
                <a:gridCol w="1219126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41463"/>
                          </a:solidFill>
                          <a:latin typeface="Segoe UI"/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41463"/>
                          </a:solidFill>
                          <a:latin typeface="Segoe U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41463"/>
                          </a:solidFill>
                          <a:latin typeface="Segoe U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41463"/>
                          </a:solidFill>
                          <a:latin typeface="Segoe U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FFF1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Unit (JUnit5)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Integration (Room)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UI (Espresso)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Security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✔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19: BUSINESS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20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Financial Modeling, Infrastructure Cost &amp; Monetization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Sustainable cost architecture delivering high user value with zero commercial data harvesting.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FINANCIAL PILLAR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Ultra-Low Cloud Cost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Firebase Free Tier: </a:t>
            </a:r>
            <a:r>
              <a:rPr sz="1500">
                <a:solidFill>
                  <a:srgbClr val="1E293B"/>
                </a:solidFill>
                <a:latin typeface="Segoe UI"/>
              </a:rPr>
              <a:t>Free up to 50,000 daily read/write sync operations.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Client-Side Compute: </a:t>
            </a:r>
            <a:r>
              <a:rPr sz="1500">
                <a:solidFill>
                  <a:srgbClr val="1E293B"/>
                </a:solidFill>
                <a:latin typeface="Segoe UI"/>
              </a:rPr>
              <a:t>User phones process cycle math with zero cloud API billing.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Total Monthly Cost: </a:t>
            </a:r>
            <a:r>
              <a:rPr sz="1500">
                <a:solidFill>
                  <a:srgbClr val="1E293B"/>
                </a:solidFill>
                <a:latin typeface="Segoe UI"/>
              </a:rPr>
              <a:t>Under $15 USD per month during initial university rollout.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Scalable Cloud Scaling: </a:t>
            </a:r>
            <a:r>
              <a:rPr sz="1500">
                <a:solidFill>
                  <a:srgbClr val="1E293B"/>
                </a:solidFill>
                <a:latin typeface="Segoe UI"/>
              </a:rPr>
              <a:t>Firestore scales automatically with pay-as-you-grow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FINANCIAL PILLAR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Ethical Revenue Streams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Care Store Margins: </a:t>
            </a:r>
            <a:r>
              <a:rPr sz="1500">
                <a:solidFill>
                  <a:srgbClr val="1E293B"/>
                </a:solidFill>
                <a:latin typeface="Segoe UI"/>
              </a:rPr>
              <a:t>12-18% commission on wellness packs and hygiene essentials.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Partner Gifting Add-ons: </a:t>
            </a:r>
            <a:r>
              <a:rPr sz="1500">
                <a:solidFill>
                  <a:srgbClr val="1E293B"/>
                </a:solidFill>
                <a:latin typeface="Segoe UI"/>
              </a:rPr>
              <a:t>Premium gift wrap and fast emergency dispatch fee.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Subscription Tier: </a:t>
            </a:r>
            <a:r>
              <a:rPr sz="1500">
                <a:solidFill>
                  <a:srgbClr val="1E293B"/>
                </a:solidFill>
                <a:latin typeface="Segoe UI"/>
              </a:rPr>
              <a:t>Optional personalized gynecological nutrition guides.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Data Commercialization: </a:t>
            </a:r>
            <a:r>
              <a:rPr sz="1500">
                <a:solidFill>
                  <a:srgbClr val="1E293B"/>
                </a:solidFill>
                <a:latin typeface="Segoe UI"/>
              </a:rPr>
              <a:t>Strict contractual pledge never to sell user health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700784"/>
            <a:ext cx="33832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FINANCIAL PILLAR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Unit Economics &amp; Growth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Low Organic CAC: </a:t>
            </a:r>
            <a:r>
              <a:rPr sz="1500">
                <a:solidFill>
                  <a:srgbClr val="1E293B"/>
                </a:solidFill>
                <a:latin typeface="Segoe UI"/>
              </a:rPr>
              <a:t>Partner mode creates natural viral invitation loops.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High Retention Rate: </a:t>
            </a:r>
            <a:r>
              <a:rPr sz="1500">
                <a:solidFill>
                  <a:srgbClr val="1E293B"/>
                </a:solidFill>
                <a:latin typeface="Segoe UI"/>
              </a:rPr>
              <a:t>Multi-year menstrual tracking drives high customer lifetime value.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Self-Sustaining: </a:t>
            </a:r>
            <a:r>
              <a:rPr sz="1500">
                <a:solidFill>
                  <a:srgbClr val="1E293B"/>
                </a:solidFill>
                <a:latin typeface="Segoe UI"/>
              </a:rPr>
              <a:t>Commerce revenue covers cloud infrastructure costs at 2,000 MAU.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Social Impact: </a:t>
            </a:r>
            <a:r>
              <a:rPr sz="1500">
                <a:solidFill>
                  <a:srgbClr val="1E293B"/>
                </a:solidFill>
                <a:latin typeface="Segoe UI"/>
              </a:rPr>
              <a:t>Subsidized sanitary kits for rural awareness drives.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20: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21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System Constraints, Clinical Boundaries &amp; Next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Honest technical appraisal of current constraints and strategic development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521208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CURRENT LIMITATIONS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Platform Constraints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Android Exclusivity: </a:t>
            </a:r>
            <a:r>
              <a:rPr sz="1500">
                <a:solidFill>
                  <a:srgbClr val="1E293B"/>
                </a:solidFill>
                <a:latin typeface="Segoe UI"/>
              </a:rPr>
              <a:t>Currently native to Android 8.0+; iOS client currently in design.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Non-Diagnostic Boundary: </a:t>
            </a:r>
            <a:r>
              <a:rPr sz="1500">
                <a:solidFill>
                  <a:srgbClr val="1E293B"/>
                </a:solidFill>
                <a:latin typeface="Segoe UI"/>
              </a:rPr>
              <a:t>Provides lifestyle insights, not a replacement for medical pathology.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Delivery Radius: </a:t>
            </a:r>
            <a:r>
              <a:rPr sz="1500">
                <a:solidFill>
                  <a:srgbClr val="1E293B"/>
                </a:solidFill>
                <a:latin typeface="Segoe UI"/>
              </a:rPr>
              <a:t>Discreet courier delivery pilot limited to selected metro zones.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Manual Symptom Input: </a:t>
            </a:r>
            <a:r>
              <a:rPr sz="1500">
                <a:solidFill>
                  <a:srgbClr val="1E293B"/>
                </a:solidFill>
                <a:latin typeface="Segoe UI"/>
              </a:rPr>
              <a:t>Requires consistent daily user logging for peak prediction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00784"/>
            <a:ext cx="5242255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FUTURE HORIZONS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Next Development Milestones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Wearable Integration: </a:t>
            </a:r>
            <a:r>
              <a:rPr sz="1500">
                <a:solidFill>
                  <a:srgbClr val="1E293B"/>
                </a:solidFill>
                <a:latin typeface="Segoe UI"/>
              </a:rPr>
              <a:t>Sync basal temperature directly from Oura Ring and Apple Watch.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On-Device AI Engine: </a:t>
            </a:r>
            <a:r>
              <a:rPr sz="1500">
                <a:solidFill>
                  <a:srgbClr val="1E293B"/>
                </a:solidFill>
                <a:latin typeface="Segoe UI"/>
              </a:rPr>
              <a:t>TinyML neural models for detecting PCOS and hormonal anomalies.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Tele-Health Bridge: </a:t>
            </a:r>
            <a:r>
              <a:rPr sz="1500">
                <a:solidFill>
                  <a:srgbClr val="1E293B"/>
                </a:solidFill>
                <a:latin typeface="Segoe UI"/>
              </a:rPr>
              <a:t>End-to-end encrypted video consults with certified gynecologists.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Multi-Language Localization: </a:t>
            </a:r>
            <a:r>
              <a:rPr sz="1500">
                <a:solidFill>
                  <a:srgbClr val="1E293B"/>
                </a:solidFill>
                <a:latin typeface="Segoe UI"/>
              </a:rPr>
              <a:t>Hindi, Bengali, and regional language support for broader reach.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21: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22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Key Achievements &amp; Impact of the CycleCare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Synthesizing technical contributions, social impact, and engineering accomplishments.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D41463"/>
                </a:solidFill>
                <a:latin typeface="Segoe UI"/>
              </a:defRPr>
            </a:pPr>
            <a:r>
              <a:t>IMPACT 1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Dignity Restored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No Taboo: </a:t>
            </a:r>
            <a:r>
              <a:rPr sz="1500">
                <a:solidFill>
                  <a:srgbClr val="1E293B"/>
                </a:solidFill>
                <a:latin typeface="Segoe UI"/>
              </a:rPr>
              <a:t>Eliminated embarrassment in public stores.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Discreet Handover: </a:t>
            </a:r>
            <a:r>
              <a:rPr sz="1500">
                <a:solidFill>
                  <a:srgbClr val="1E293B"/>
                </a:solidFill>
                <a:latin typeface="Segoe UI"/>
              </a:rPr>
              <a:t>Plain boxes with 4-digit OTP handover.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Emotional Comfort: </a:t>
            </a:r>
            <a:r>
              <a:rPr sz="1500">
                <a:solidFill>
                  <a:srgbClr val="1E293B"/>
                </a:solidFill>
                <a:latin typeface="Segoe UI"/>
              </a:rPr>
              <a:t>Reassurance during acute cramps.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IMPACT 2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Privacy Reclaimed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On-Device First: </a:t>
            </a:r>
            <a:r>
              <a:rPr sz="1500">
                <a:solidFill>
                  <a:srgbClr val="1E293B"/>
                </a:solidFill>
                <a:latin typeface="Segoe UI"/>
              </a:rPr>
              <a:t>100% local cycle math &amp; Keystore encryption.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Zero Ad Brokers: </a:t>
            </a:r>
            <a:r>
              <a:rPr sz="1500">
                <a:solidFill>
                  <a:srgbClr val="1E293B"/>
                </a:solidFill>
                <a:latin typeface="Segoe UI"/>
              </a:rPr>
              <a:t>Intimate logs shielded from external surveillance.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User Sovereignty: </a:t>
            </a:r>
            <a:r>
              <a:rPr sz="1500">
                <a:solidFill>
                  <a:srgbClr val="1E293B"/>
                </a:solidFill>
                <a:latin typeface="Segoe UI"/>
              </a:rPr>
              <a:t>Instant permanent kill-switch purge.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IMPACT 3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Partners Connected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Empathy Bridge: </a:t>
            </a:r>
            <a:r>
              <a:rPr sz="1500">
                <a:solidFill>
                  <a:srgbClr val="1E293B"/>
                </a:solidFill>
                <a:latin typeface="Segoe UI"/>
              </a:rPr>
              <a:t>Educates partners on hormonal biology.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Proactive Care: </a:t>
            </a:r>
            <a:r>
              <a:rPr sz="1500">
                <a:solidFill>
                  <a:srgbClr val="1E293B"/>
                </a:solidFill>
                <a:latin typeface="Segoe UI"/>
              </a:rPr>
              <a:t>Prompts timely rest &amp; hydration care.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• Care Gifting: </a:t>
            </a:r>
            <a:r>
              <a:rPr sz="1500">
                <a:solidFill>
                  <a:srgbClr val="1E293B"/>
                </a:solidFill>
                <a:latin typeface="Segoe UI"/>
              </a:rPr>
              <a:t>Instant relief bundles sent to her doorstep.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700784"/>
            <a:ext cx="25603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 rIns="201168" b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IMPACT 4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Production Ready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Clean Architecture: </a:t>
            </a:r>
            <a:r>
              <a:rPr sz="1400">
                <a:solidFill>
                  <a:srgbClr val="1E293B"/>
                </a:solidFill>
                <a:latin typeface="Segoe UI"/>
              </a:rPr>
              <a:t>Kotlin MVVM + Room + SQLCipher stack.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100% Test Pass: </a:t>
            </a:r>
            <a:r>
              <a:rPr sz="1400">
                <a:solidFill>
                  <a:srgbClr val="1E293B"/>
                </a:solidFill>
                <a:latin typeface="Segoe UI"/>
              </a:rPr>
              <a:t>Validated across 311 automated test cases.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• Scalable Cloud: </a:t>
            </a:r>
            <a:r>
              <a:rPr sz="1400">
                <a:solidFill>
                  <a:srgbClr val="1E293B"/>
                </a:solidFill>
                <a:latin typeface="Segoe UI"/>
              </a:rPr>
              <a:t>Realtime Firestore sync with zero central leak.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347472"/>
            <a:ext cx="3108960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FFF1F5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1463"/>
                </a:solidFill>
                <a:latin typeface="Segoe UI"/>
              </a:defRPr>
            </a:pPr>
            <a:r>
              <a:t>STAGE 22: QUESTIONS &amp;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0040"/>
            <a:ext cx="15544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SLIDE 23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Thank You — Open for Committee Defense &amp;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Segoe UI"/>
              </a:defRPr>
            </a:pPr>
            <a:r>
              <a:t>Live technical demonstration and defense of the CycleCare platform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6464" y="1700784"/>
            <a:ext cx="9448495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800"/>
              </a:spcAft>
              <a:defRPr sz="1200" b="1">
                <a:solidFill>
                  <a:srgbClr val="D41463"/>
                </a:solidFill>
                <a:latin typeface="Segoe UI"/>
              </a:defRPr>
            </a:pPr>
            <a:r>
              <a:t>CAPSTONE DEFENSE PRESENTATION</a:t>
            </a:r>
          </a:p>
          <a:p>
            <a:pPr algn="ctr"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CycleCare: Where Empathy Meets Engineering and Privacy.</a:t>
            </a:r>
          </a:p>
          <a:p>
            <a:pPr algn="ctr">
              <a:spcAft>
                <a:spcPts val="10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✔ Live Cycle Dial &amp; Health Vitals Tracking on Connected Android Device</a:t>
            </a:r>
          </a:p>
          <a:p>
            <a:pPr algn="ctr">
              <a:spcAft>
                <a:spcPts val="10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✔ On-Device AES-256 SQLCipher &amp; Keystore Cryptographic Verification</a:t>
            </a:r>
          </a:p>
          <a:p>
            <a:pPr algn="ctr">
              <a:spcAft>
                <a:spcPts val="10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✔ Bilateral Partner Pairing &amp; Consent-Filtered Firestore Synchronization</a:t>
            </a:r>
          </a:p>
          <a:p>
            <a:pPr algn="ctr">
              <a:spcAft>
                <a:spcPts val="1000"/>
              </a:spcAft>
              <a:defRPr sz="1700" b="1">
                <a:solidFill>
                  <a:srgbClr val="1E293B"/>
                </a:solidFill>
                <a:latin typeface="Segoe UI"/>
              </a:defRPr>
            </a:pPr>
            <a:r>
              <a:t>✔ Live Wellness Store Checkout, Order Tracking &amp; 4-Digit OTP Handover</a:t>
            </a:r>
          </a:p>
          <a:p>
            <a:pPr algn="ctr">
              <a:spcBef>
                <a:spcPts val="1600"/>
              </a:spcBef>
              <a:defRPr sz="1400">
                <a:solidFill>
                  <a:srgbClr val="475569"/>
                </a:solidFill>
                <a:latin typeface="Segoe UI"/>
              </a:defRPr>
            </a:pPr>
            <a:r>
              <a:t>ARTI ASTHA | Academic Defense 2026 | We Invite Questions from the Evaluation Committee.</a:t>
            </a:r>
          </a:p>
        </p:txBody>
      </p:sp>
      <p:pic>
        <p:nvPicPr>
          <p:cNvPr id="9" name="Picture 8" descr="mascot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114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